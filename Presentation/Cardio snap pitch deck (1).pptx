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14"/>
  </p:notesMasterIdLst>
  <p:sldIdLst>
    <p:sldId id="256" r:id="rId2"/>
    <p:sldId id="257" r:id="rId3"/>
    <p:sldId id="258" r:id="rId4"/>
    <p:sldId id="261" r:id="rId5"/>
    <p:sldId id="262" r:id="rId6"/>
    <p:sldId id="270" r:id="rId7"/>
    <p:sldId id="269" r:id="rId8"/>
    <p:sldId id="266" r:id="rId9"/>
    <p:sldId id="265" r:id="rId10"/>
    <p:sldId id="264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32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2717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4262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1516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482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27932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6599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8143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86049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79142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48211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3941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87867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77488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24947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05430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2425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959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2.xml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2.xml" /><Relationship Id="rId5" Type="http://schemas.openxmlformats.org/officeDocument/2006/relationships/image" Target="../media/image5.png" /><Relationship Id="rId4" Type="http://schemas.openxmlformats.org/officeDocument/2006/relationships/image" Target="../media/image2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2.xml" /><Relationship Id="rId6" Type="http://schemas.openxmlformats.org/officeDocument/2006/relationships/image" Target="../media/image9.png" /><Relationship Id="rId5" Type="http://schemas.openxmlformats.org/officeDocument/2006/relationships/image" Target="../media/image8.png" /><Relationship Id="rId4" Type="http://schemas.openxmlformats.org/officeDocument/2006/relationships/image" Target="../media/image7.png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 /><Relationship Id="rId3" Type="http://schemas.openxmlformats.org/officeDocument/2006/relationships/image" Target="../media/image10.png" /><Relationship Id="rId7" Type="http://schemas.openxmlformats.org/officeDocument/2006/relationships/image" Target="../media/image5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2.xml" /><Relationship Id="rId6" Type="http://schemas.openxmlformats.org/officeDocument/2006/relationships/image" Target="../media/image2.png" /><Relationship Id="rId5" Type="http://schemas.openxmlformats.org/officeDocument/2006/relationships/image" Target="../media/image12.png" /><Relationship Id="rId4" Type="http://schemas.openxmlformats.org/officeDocument/2006/relationships/image" Target="../media/image11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2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2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2.xml" /><Relationship Id="rId6" Type="http://schemas.openxmlformats.org/officeDocument/2006/relationships/image" Target="../media/image14.png" /><Relationship Id="rId5" Type="http://schemas.openxmlformats.org/officeDocument/2006/relationships/image" Target="../media/image12.png" /><Relationship Id="rId4" Type="http://schemas.openxmlformats.org/officeDocument/2006/relationships/image" Target="../media/image10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0" y="1691640"/>
            <a:ext cx="12188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CARDIO SNAP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0" y="214884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CAPTURE.  CHECK.  CARE.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14400" y="269748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the Pulse of Accessible Healthcare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2194560" y="4160520"/>
            <a:ext cx="7799832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rgbClr val="3340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23160" y="4251960"/>
            <a:ext cx="73426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socially transformative, ultra-low-cost medical device combining portable hardware with Artificial Neural Network diagnostics to democratise cardiovascular care.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0" y="56235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the CardioSnap Team  |  Investor Pitch Deck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Introduction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CARDIOSNAP</a:t>
            </a:r>
            <a:endParaRPr lang="en-US" sz="1000" dirty="0"/>
          </a:p>
        </p:txBody>
      </p:sp>
      <p:pic>
        <p:nvPicPr>
          <p:cNvPr id="13" name="Image 0" descr="assets/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38328"/>
            <a:ext cx="38404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Vicious Cycle of Cardiac Inequity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Preventable heart disease is escalating silently across underserved communities — trapped by a self-reinforcing loop of three systemic barriers.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319272" cy="3246120"/>
          </a:xfrm>
          <a:prstGeom prst="roundRect">
            <a:avLst>
              <a:gd name="adj" fmla="val 2254"/>
            </a:avLst>
          </a:prstGeom>
          <a:solidFill>
            <a:srgbClr val="EEF1F6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468880"/>
            <a:ext cx="685800" cy="685800"/>
          </a:xfrm>
          <a:prstGeom prst="ellipse">
            <a:avLst/>
          </a:prstGeom>
          <a:solidFill>
            <a:schemeClr val="bg1">
              <a:lumMod val="85000"/>
            </a:schemeClr>
          </a:solidFill>
          <a:ln/>
        </p:spPr>
      </p:sp>
      <p:pic>
        <p:nvPicPr>
          <p:cNvPr id="7" name="Image 0" descr="/home/claude/cardiosnap/icon_mapp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570" y="2640330"/>
            <a:ext cx="342900" cy="342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364992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7BF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3337560"/>
            <a:ext cx="26791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Isolation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60120" y="3977640"/>
            <a:ext cx="267919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and developing areas lack essential medical equipment and specialised cardiologists, leaving millions without access to routine screening.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79392" y="2148840"/>
            <a:ext cx="3319272" cy="3246120"/>
          </a:xfrm>
          <a:prstGeom prst="roundRect">
            <a:avLst>
              <a:gd name="adj" fmla="val 2254"/>
            </a:avLst>
          </a:prstGeom>
          <a:solidFill>
            <a:srgbClr val="EEF1F6"/>
          </a:solidFill>
          <a:ln/>
        </p:spPr>
      </p:sp>
      <p:sp>
        <p:nvSpPr>
          <p:cNvPr id="12" name="Shape 9"/>
          <p:cNvSpPr/>
          <p:nvPr/>
        </p:nvSpPr>
        <p:spPr>
          <a:xfrm>
            <a:off x="4599432" y="2468880"/>
            <a:ext cx="685800" cy="685800"/>
          </a:xfrm>
          <a:prstGeom prst="ellipse">
            <a:avLst/>
          </a:prstGeom>
          <a:solidFill>
            <a:schemeClr val="bg1">
              <a:lumMod val="85000"/>
            </a:schemeClr>
          </a:solidFill>
          <a:ln/>
        </p:spPr>
      </p:sp>
      <p:pic>
        <p:nvPicPr>
          <p:cNvPr id="13" name="Image 1" descr="/home/claude/cardiosnap/icon_doll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0882" y="2640330"/>
            <a:ext cx="342900" cy="3429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04304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7BF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99432" y="3337560"/>
            <a:ext cx="26791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Barriers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599432" y="3977640"/>
            <a:ext cx="267919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ECG machines cost hundreds of thousands of PKR and remain strictly confined to major hospital centres.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918704" y="2148840"/>
            <a:ext cx="3319272" cy="3246120"/>
          </a:xfrm>
          <a:prstGeom prst="roundRect">
            <a:avLst>
              <a:gd name="adj" fmla="val 2254"/>
            </a:avLst>
          </a:prstGeom>
          <a:solidFill>
            <a:srgbClr val="EEF1F6"/>
          </a:solidFill>
          <a:ln/>
        </p:spPr>
      </p:sp>
      <p:sp>
        <p:nvSpPr>
          <p:cNvPr id="18" name="Shape 14"/>
          <p:cNvSpPr/>
          <p:nvPr/>
        </p:nvSpPr>
        <p:spPr>
          <a:xfrm>
            <a:off x="8238744" y="2468880"/>
            <a:ext cx="685800" cy="68580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19" name="Image 2" descr="/home/claude/cardiosnap/icon_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0194" y="2640330"/>
            <a:ext cx="342900" cy="3429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643616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7BF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238744" y="3337560"/>
            <a:ext cx="26791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 Exclusion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238744" y="3977640"/>
            <a:ext cx="267919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populations — especially the elderly — cannot afford regular cardiovascular screening or travel to urban clinics.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40080" y="5623560"/>
            <a:ext cx="10881360" cy="594360"/>
          </a:xfrm>
          <a:prstGeom prst="roundRect">
            <a:avLst>
              <a:gd name="adj" fmla="val 12308"/>
            </a:avLst>
          </a:prstGeom>
          <a:solidFill>
            <a:srgbClr val="D62828"/>
          </a:solidFill>
          <a:ln/>
        </p:spPr>
      </p:sp>
      <p:sp>
        <p:nvSpPr>
          <p:cNvPr id="24" name="Text 19"/>
          <p:cNvSpPr/>
          <p:nvPr/>
        </p:nvSpPr>
        <p:spPr>
          <a:xfrm>
            <a:off x="822960" y="56235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early, manageable heart problems escalate silently — undetected until it's too late.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Problem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CARDIOSNAP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Disruptive Approach to Basic Heart Screening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CardioSnap strips away the cost and complexity of clinical ECG systems — without sacrificing diagnostic intelligence.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94360" cy="594360"/>
          </a:xfrm>
          <a:prstGeom prst="ellipse">
            <a:avLst/>
          </a:prstGeom>
          <a:solidFill>
            <a:schemeClr val="bg1">
              <a:lumMod val="85000"/>
            </a:schemeClr>
          </a:solidFill>
          <a:ln/>
        </p:spPr>
      </p:sp>
      <p:pic>
        <p:nvPicPr>
          <p:cNvPr id="6" name="Image 0" descr="/home/claude/cardiosnap/icon_dol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" y="2114550"/>
            <a:ext cx="297180" cy="2971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93852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Ultra-Low Cost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17320" y="2313432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Stripping away the massive overhead of commercial machines to provide affordable basic screening for anyone.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594360" cy="594360"/>
          </a:xfrm>
          <a:prstGeom prst="ellipse">
            <a:avLst/>
          </a:prstGeom>
          <a:solidFill>
            <a:schemeClr val="bg1">
              <a:lumMod val="85000"/>
            </a:schemeClr>
          </a:solidFill>
          <a:ln/>
        </p:spPr>
      </p:sp>
      <p:pic>
        <p:nvPicPr>
          <p:cNvPr id="10" name="Image 1" descr="/home/claude/cardiosnap/icon_mapp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670" y="353187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35584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Anywhere Deployment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17320" y="3730752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specifically to operate in remote areas, community health camps, and small clinics.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4800600"/>
            <a:ext cx="594360" cy="594360"/>
          </a:xfrm>
          <a:prstGeom prst="ellipse">
            <a:avLst/>
          </a:prstGeom>
          <a:solidFill>
            <a:schemeClr val="bg1">
              <a:lumMod val="75000"/>
            </a:schemeClr>
          </a:solidFill>
          <a:ln/>
        </p:spPr>
      </p:sp>
      <p:pic>
        <p:nvPicPr>
          <p:cNvPr id="14" name="Image 2" descr="/home/claude/cardiosnap/icon_bookop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670" y="4949190"/>
            <a:ext cx="297180" cy="2971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7731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 &amp; Prevention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417320" y="5148072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dual-purpose tool that promotes grassroots health awareness while serving as an accessible training platform for biomedical engineering students.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99877" y="2263140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PKR 3,700</a:t>
            </a:r>
            <a:endParaRPr lang="en-US" sz="3400" dirty="0"/>
          </a:p>
        </p:txBody>
      </p:sp>
      <p:sp>
        <p:nvSpPr>
          <p:cNvPr id="19" name="Text 14"/>
          <p:cNvSpPr/>
          <p:nvPr/>
        </p:nvSpPr>
        <p:spPr>
          <a:xfrm>
            <a:off x="7178040" y="288036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hardware bill-of-materials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Shape 15"/>
          <p:cNvSpPr/>
          <p:nvPr/>
        </p:nvSpPr>
        <p:spPr>
          <a:xfrm>
            <a:off x="7178040" y="3337560"/>
            <a:ext cx="4069080" cy="0"/>
          </a:xfrm>
          <a:prstGeom prst="line">
            <a:avLst/>
          </a:prstGeom>
          <a:noFill/>
          <a:ln w="12700">
            <a:solidFill>
              <a:srgbClr val="33406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178040" y="352044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7178040" y="37947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Hundreds of thousands of PKR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 18"/>
          <p:cNvSpPr/>
          <p:nvPr/>
        </p:nvSpPr>
        <p:spPr>
          <a:xfrm>
            <a:off x="7178040" y="416052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capital cost of a traditional clinical ECG machine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Text 20"/>
          <p:cNvSpPr/>
          <p:nvPr/>
        </p:nvSpPr>
        <p:spPr>
          <a:xfrm>
            <a:off x="7360920" y="4892040"/>
            <a:ext cx="3703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target: under PKR 5,000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Solution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CARDIOSNAP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Data-to-Diagnosis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bio-potential signal in, actionable clinical classification out — in four automated stages.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542032" cy="1920240"/>
          </a:xfrm>
          <a:prstGeom prst="roundRect">
            <a:avLst>
              <a:gd name="adj" fmla="val 3810"/>
            </a:avLst>
          </a:prstGeom>
          <a:solidFill>
            <a:srgbClr val="16213E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240280"/>
            <a:ext cx="502920" cy="50292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7" name="Image 0" descr="/home/claude/cardiosnap/icon_ac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837" y="235343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2880360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Signal Acquisition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41248" y="3246120"/>
            <a:ext cx="2139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AD8232 sensor captures raw bio-potential signals from the patient.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182112" y="26974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83280" y="2011680"/>
            <a:ext cx="2542032" cy="1920240"/>
          </a:xfrm>
          <a:prstGeom prst="roundRect">
            <a:avLst>
              <a:gd name="adj" fmla="val 3810"/>
            </a:avLst>
          </a:prstGeom>
          <a:solidFill>
            <a:srgbClr val="D62828"/>
          </a:solidFill>
          <a:ln/>
        </p:spPr>
      </p:sp>
      <p:sp>
        <p:nvSpPr>
          <p:cNvPr id="12" name="Shape 9"/>
          <p:cNvSpPr/>
          <p:nvPr/>
        </p:nvSpPr>
        <p:spPr>
          <a:xfrm>
            <a:off x="3611880" y="2240280"/>
            <a:ext cx="502920" cy="50292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13" name="Image 1" descr="/home/claude/cardiosnap/icon_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5037" y="2353437"/>
            <a:ext cx="276606" cy="27660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84448" y="2880360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Signal Processing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84448" y="3246120"/>
            <a:ext cx="2139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MATLAB-based QRS-complex detection identifies peaks and segments the ECG waveform.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5925312" y="26974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6126480" y="2011680"/>
            <a:ext cx="2542032" cy="1920240"/>
          </a:xfrm>
          <a:prstGeom prst="roundRect">
            <a:avLst>
              <a:gd name="adj" fmla="val 3810"/>
            </a:avLst>
          </a:prstGeom>
          <a:solidFill>
            <a:srgbClr val="16213E"/>
          </a:solidFill>
          <a:ln/>
        </p:spPr>
      </p:sp>
      <p:sp>
        <p:nvSpPr>
          <p:cNvPr id="18" name="Shape 14"/>
          <p:cNvSpPr/>
          <p:nvPr/>
        </p:nvSpPr>
        <p:spPr>
          <a:xfrm>
            <a:off x="6355080" y="2240280"/>
            <a:ext cx="502920" cy="50292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19" name="Image 2" descr="/home/claude/cardiosnap/icon_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8237" y="2353437"/>
            <a:ext cx="276606" cy="27660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27648" y="2880360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Neural Network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327648" y="3246120"/>
            <a:ext cx="2139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data is fed into an Artificial Neural Network using a Feed-Forward Back-Propagation architecture.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8668512" y="26974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8869680" y="2011680"/>
            <a:ext cx="2542032" cy="1920240"/>
          </a:xfrm>
          <a:prstGeom prst="roundRect">
            <a:avLst>
              <a:gd name="adj" fmla="val 3810"/>
            </a:avLst>
          </a:prstGeom>
          <a:solidFill>
            <a:srgbClr val="D62828"/>
          </a:solidFill>
          <a:ln/>
        </p:spPr>
      </p:sp>
      <p:sp>
        <p:nvSpPr>
          <p:cNvPr id="24" name="Shape 19"/>
          <p:cNvSpPr/>
          <p:nvPr/>
        </p:nvSpPr>
        <p:spPr>
          <a:xfrm>
            <a:off x="9098280" y="2240280"/>
            <a:ext cx="502920" cy="50292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25" name="Image 3" descr="/home/claude/cardiosnap/icon_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1437" y="2353437"/>
            <a:ext cx="276606" cy="27660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070848" y="2880360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Diagnosis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9070848" y="3246120"/>
            <a:ext cx="21396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outputs a clinical classification, categorising the heartbeat into specific diagnostic states.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640080" y="4251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Diagnostic Heartbeat States Classified</a:t>
            </a:r>
            <a:endParaRPr lang="en-US" sz="1600" dirty="0"/>
          </a:p>
        </p:txBody>
      </p:sp>
      <p:sp>
        <p:nvSpPr>
          <p:cNvPr id="29" name="Shape 23"/>
          <p:cNvSpPr/>
          <p:nvPr/>
        </p:nvSpPr>
        <p:spPr>
          <a:xfrm>
            <a:off x="640080" y="466344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6"/>
          </a:solidFill>
          <a:ln/>
        </p:spPr>
      </p:sp>
      <p:sp>
        <p:nvSpPr>
          <p:cNvPr id="30" name="Text 24"/>
          <p:cNvSpPr/>
          <p:nvPr/>
        </p:nvSpPr>
        <p:spPr>
          <a:xfrm>
            <a:off x="822960" y="46634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Beat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4297680" y="466344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6"/>
          </a:solidFill>
          <a:ln/>
        </p:spPr>
      </p:sp>
      <p:sp>
        <p:nvSpPr>
          <p:cNvPr id="32" name="Text 26"/>
          <p:cNvSpPr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Bundle Branch Block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7955280" y="466344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6"/>
          </a:solidFill>
          <a:ln/>
        </p:spPr>
      </p:sp>
      <p:sp>
        <p:nvSpPr>
          <p:cNvPr id="34" name="Text 28"/>
          <p:cNvSpPr/>
          <p:nvPr/>
        </p:nvSpPr>
        <p:spPr>
          <a:xfrm>
            <a:off x="8138160" y="46634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Bundle Branch Block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11612880" y="466344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6"/>
          </a:solidFill>
          <a:ln/>
        </p:spPr>
      </p:sp>
      <p:sp>
        <p:nvSpPr>
          <p:cNvPr id="36" name="Text 30"/>
          <p:cNvSpPr/>
          <p:nvPr/>
        </p:nvSpPr>
        <p:spPr>
          <a:xfrm>
            <a:off x="11795760" y="46634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Premature Ventricular Contraction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640080" y="5230368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6"/>
          </a:solidFill>
          <a:ln/>
        </p:spPr>
      </p:sp>
      <p:sp>
        <p:nvSpPr>
          <p:cNvPr id="38" name="Text 32"/>
          <p:cNvSpPr/>
          <p:nvPr/>
        </p:nvSpPr>
        <p:spPr>
          <a:xfrm>
            <a:off x="822960" y="523036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Atrial Premature Contraction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4297680" y="5230368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6"/>
          </a:solidFill>
          <a:ln/>
        </p:spPr>
      </p:sp>
      <p:sp>
        <p:nvSpPr>
          <p:cNvPr id="40" name="Text 34"/>
          <p:cNvSpPr/>
          <p:nvPr/>
        </p:nvSpPr>
        <p:spPr>
          <a:xfrm>
            <a:off x="4480560" y="523036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Paced Beat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7955280" y="5230368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EEF1F6"/>
          </a:solidFill>
          <a:ln/>
        </p:spPr>
      </p:sp>
      <p:sp>
        <p:nvSpPr>
          <p:cNvPr id="42" name="Text 36"/>
          <p:cNvSpPr/>
          <p:nvPr/>
        </p:nvSpPr>
        <p:spPr>
          <a:xfrm>
            <a:off x="8138160" y="523036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Rhythm Change</a:t>
            </a:r>
            <a:endParaRPr lang="en-US" sz="1050" dirty="0"/>
          </a:p>
        </p:txBody>
      </p:sp>
      <p:sp>
        <p:nvSpPr>
          <p:cNvPr id="43" name="Text 3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Product — AI Diagnostics</a:t>
            </a:r>
            <a:endParaRPr lang="en-US" sz="1000" dirty="0"/>
          </a:p>
        </p:txBody>
      </p:sp>
      <p:sp>
        <p:nvSpPr>
          <p:cNvPr id="44" name="Text 38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CARDIOSNAP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Field, Aligned with Global Goals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Deployment Footprint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542032" cy="1234440"/>
          </a:xfrm>
          <a:prstGeom prst="roundRect">
            <a:avLst>
              <a:gd name="adj" fmla="val 5185"/>
            </a:avLst>
          </a:prstGeom>
          <a:solidFill>
            <a:srgbClr val="EEF1F6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856232"/>
            <a:ext cx="384048" cy="384048"/>
          </a:xfrm>
          <a:prstGeom prst="ellipse">
            <a:avLst/>
          </a:prstGeom>
          <a:solidFill>
            <a:schemeClr val="bg1">
              <a:lumMod val="85000"/>
            </a:schemeClr>
          </a:solidFill>
          <a:ln/>
        </p:spPr>
      </p:sp>
      <p:pic>
        <p:nvPicPr>
          <p:cNvPr id="7" name="Image 0" descr="/home/claude/cardiosnap/icon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1952244"/>
            <a:ext cx="192024" cy="1920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2313432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Health Centres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4672" y="2587752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Equipping frontline rural healthcare workers.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319272" y="1691640"/>
            <a:ext cx="2542032" cy="1234440"/>
          </a:xfrm>
          <a:prstGeom prst="roundRect">
            <a:avLst>
              <a:gd name="adj" fmla="val 5185"/>
            </a:avLst>
          </a:prstGeom>
          <a:solidFill>
            <a:srgbClr val="EEF1F6"/>
          </a:solidFill>
          <a:ln/>
        </p:spPr>
      </p:sp>
      <p:sp>
        <p:nvSpPr>
          <p:cNvPr id="11" name="Shape 8"/>
          <p:cNvSpPr/>
          <p:nvPr/>
        </p:nvSpPr>
        <p:spPr>
          <a:xfrm>
            <a:off x="3483864" y="1856232"/>
            <a:ext cx="384048" cy="384048"/>
          </a:xfrm>
          <a:prstGeom prst="ellipse">
            <a:avLst/>
          </a:prstGeom>
          <a:solidFill>
            <a:schemeClr val="bg1">
              <a:lumMod val="75000"/>
            </a:schemeClr>
          </a:solidFill>
          <a:ln/>
        </p:spPr>
      </p:sp>
      <p:pic>
        <p:nvPicPr>
          <p:cNvPr id="12" name="Image 1" descr="/home/claude/cardiosnap/icon_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9876" y="1952244"/>
            <a:ext cx="192024" cy="1920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83864" y="2313432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NGOs &amp; Health Orgs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483864" y="2587752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Powering community health camps &amp; outreach.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5998464" y="1691640"/>
            <a:ext cx="2542032" cy="1234440"/>
          </a:xfrm>
          <a:prstGeom prst="roundRect">
            <a:avLst>
              <a:gd name="adj" fmla="val 5185"/>
            </a:avLst>
          </a:prstGeom>
          <a:solidFill>
            <a:srgbClr val="EEF1F6"/>
          </a:solidFill>
          <a:ln/>
        </p:spPr>
      </p:sp>
      <p:sp>
        <p:nvSpPr>
          <p:cNvPr id="16" name="Shape 12"/>
          <p:cNvSpPr/>
          <p:nvPr/>
        </p:nvSpPr>
        <p:spPr>
          <a:xfrm>
            <a:off x="6163056" y="1856232"/>
            <a:ext cx="384048" cy="384048"/>
          </a:xfrm>
          <a:prstGeom prst="ellipse">
            <a:avLst/>
          </a:prstGeom>
          <a:solidFill>
            <a:schemeClr val="bg1">
              <a:lumMod val="85000"/>
            </a:schemeClr>
          </a:solidFill>
          <a:ln/>
        </p:spPr>
      </p:sp>
      <p:pic>
        <p:nvPicPr>
          <p:cNvPr id="17" name="Image 2" descr="/home/claude/cardiosnap/icon_briefc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9068" y="1952244"/>
            <a:ext cx="192024" cy="1920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63056" y="2313432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Clinics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6163056" y="2587752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capability on limited budgets.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640080" y="3063240"/>
            <a:ext cx="2542032" cy="1234440"/>
          </a:xfrm>
          <a:prstGeom prst="roundRect">
            <a:avLst>
              <a:gd name="adj" fmla="val 5185"/>
            </a:avLst>
          </a:prstGeom>
          <a:solidFill>
            <a:srgbClr val="EEF1F6"/>
          </a:solidFill>
          <a:ln/>
        </p:spPr>
      </p:sp>
      <p:sp>
        <p:nvSpPr>
          <p:cNvPr id="21" name="Shape 16"/>
          <p:cNvSpPr/>
          <p:nvPr/>
        </p:nvSpPr>
        <p:spPr>
          <a:xfrm>
            <a:off x="804672" y="3227832"/>
            <a:ext cx="384048" cy="384048"/>
          </a:xfrm>
          <a:prstGeom prst="ellipse">
            <a:avLst/>
          </a:prstGeom>
          <a:solidFill>
            <a:schemeClr val="bg1">
              <a:lumMod val="85000"/>
            </a:schemeClr>
          </a:solidFill>
          <a:ln/>
        </p:spPr>
      </p:sp>
      <p:pic>
        <p:nvPicPr>
          <p:cNvPr id="22" name="Image 3" descr="/home/claude/cardiosnap/icon_mapp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684" y="3323844"/>
            <a:ext cx="192024" cy="1920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04672" y="3685032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Individuals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804672" y="3959352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screening for the elderly &amp; housebound.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3319272" y="3122676"/>
            <a:ext cx="2542032" cy="1234440"/>
          </a:xfrm>
          <a:prstGeom prst="roundRect">
            <a:avLst>
              <a:gd name="adj" fmla="val 5185"/>
            </a:avLst>
          </a:prstGeom>
          <a:solidFill>
            <a:srgbClr val="EEF1F6"/>
          </a:solidFill>
          <a:ln/>
        </p:spPr>
      </p:sp>
      <p:sp>
        <p:nvSpPr>
          <p:cNvPr id="26" name="Shape 20"/>
          <p:cNvSpPr/>
          <p:nvPr/>
        </p:nvSpPr>
        <p:spPr>
          <a:xfrm>
            <a:off x="3483864" y="3227832"/>
            <a:ext cx="364236" cy="384048"/>
          </a:xfrm>
          <a:prstGeom prst="ellipse">
            <a:avLst/>
          </a:prstGeom>
          <a:solidFill>
            <a:schemeClr val="bg1">
              <a:lumMod val="75000"/>
            </a:schemeClr>
          </a:solidFill>
          <a:ln/>
        </p:spPr>
      </p:sp>
      <p:pic>
        <p:nvPicPr>
          <p:cNvPr id="27" name="Image 4" descr="/home/claude/cardiosnap/icon_bookop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9876" y="3323844"/>
            <a:ext cx="192024" cy="19202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483864" y="3685032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Educational Institutions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3483864" y="3959352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training tool for biomedical students.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5998464" y="3063240"/>
            <a:ext cx="2542032" cy="1234440"/>
          </a:xfrm>
          <a:prstGeom prst="roundRect">
            <a:avLst>
              <a:gd name="adj" fmla="val 5185"/>
            </a:avLst>
          </a:prstGeom>
          <a:solidFill>
            <a:srgbClr val="EEF1F6"/>
          </a:solidFill>
          <a:ln/>
        </p:spPr>
      </p:sp>
      <p:sp>
        <p:nvSpPr>
          <p:cNvPr id="31" name="Shape 24"/>
          <p:cNvSpPr/>
          <p:nvPr/>
        </p:nvSpPr>
        <p:spPr>
          <a:xfrm>
            <a:off x="6163056" y="3227832"/>
            <a:ext cx="384048" cy="384048"/>
          </a:xfrm>
          <a:prstGeom prst="ellipse">
            <a:avLst/>
          </a:prstGeom>
          <a:solidFill>
            <a:schemeClr val="bg1">
              <a:lumMod val="75000"/>
            </a:schemeClr>
          </a:solidFill>
          <a:ln/>
        </p:spPr>
      </p:sp>
      <p:pic>
        <p:nvPicPr>
          <p:cNvPr id="32" name="Image 5" descr="/home/claude/cardiosnap/icon_targe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9068" y="3323844"/>
            <a:ext cx="192024" cy="19202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163056" y="3685032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Labs &amp; Startups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6163056" y="3959352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Open-architecture foundation for medical innovation.</a:t>
            </a:r>
            <a:endParaRPr lang="en-US" sz="850" dirty="0"/>
          </a:p>
        </p:txBody>
      </p:sp>
      <p:sp>
        <p:nvSpPr>
          <p:cNvPr id="35" name="Shape 27"/>
          <p:cNvSpPr/>
          <p:nvPr/>
        </p:nvSpPr>
        <p:spPr>
          <a:xfrm>
            <a:off x="8092440" y="1691640"/>
            <a:ext cx="3456432" cy="4526280"/>
          </a:xfrm>
          <a:prstGeom prst="roundRect">
            <a:avLst>
              <a:gd name="adj" fmla="val 2646"/>
            </a:avLst>
          </a:prstGeom>
          <a:solidFill>
            <a:srgbClr val="16213E"/>
          </a:solidFill>
          <a:ln/>
        </p:spPr>
      </p:sp>
      <p:sp>
        <p:nvSpPr>
          <p:cNvPr id="36" name="Text 28"/>
          <p:cNvSpPr/>
          <p:nvPr/>
        </p:nvSpPr>
        <p:spPr>
          <a:xfrm>
            <a:off x="8321040" y="18745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Aligned with UN Sustainable Development Goals</a:t>
            </a:r>
            <a:endParaRPr lang="en-US" sz="1300" dirty="0"/>
          </a:p>
        </p:txBody>
      </p:sp>
      <p:sp>
        <p:nvSpPr>
          <p:cNvPr id="37" name="Shape 29"/>
          <p:cNvSpPr/>
          <p:nvPr/>
        </p:nvSpPr>
        <p:spPr>
          <a:xfrm>
            <a:off x="8321040" y="2560320"/>
            <a:ext cx="82296" cy="82296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38" name="Text 30"/>
          <p:cNvSpPr/>
          <p:nvPr/>
        </p:nvSpPr>
        <p:spPr>
          <a:xfrm>
            <a:off x="8522208" y="244144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9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3 — Good Health: expanding early detection for fatal CVDs in isolated communities.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8321040" y="3145536"/>
            <a:ext cx="82296" cy="82296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40" name="Text 32"/>
          <p:cNvSpPr/>
          <p:nvPr/>
        </p:nvSpPr>
        <p:spPr>
          <a:xfrm>
            <a:off x="8522208" y="3026664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9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10 — Reduced Inequalities: closing the diagnostic gap between urban and rural populations.</a:t>
            </a:r>
            <a:endParaRPr lang="en-US" sz="950" dirty="0"/>
          </a:p>
        </p:txBody>
      </p:sp>
      <p:sp>
        <p:nvSpPr>
          <p:cNvPr id="41" name="Shape 33"/>
          <p:cNvSpPr/>
          <p:nvPr/>
        </p:nvSpPr>
        <p:spPr>
          <a:xfrm>
            <a:off x="8321040" y="3730752"/>
            <a:ext cx="82296" cy="82296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42" name="Text 34"/>
          <p:cNvSpPr/>
          <p:nvPr/>
        </p:nvSpPr>
        <p:spPr>
          <a:xfrm>
            <a:off x="8522208" y="36118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9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4 — Quality Education: an accessible training platform for biomedical engineers.</a:t>
            </a:r>
            <a:endParaRPr lang="en-US" sz="950" dirty="0"/>
          </a:p>
        </p:txBody>
      </p:sp>
      <p:sp>
        <p:nvSpPr>
          <p:cNvPr id="43" name="Shape 35"/>
          <p:cNvSpPr/>
          <p:nvPr/>
        </p:nvSpPr>
        <p:spPr>
          <a:xfrm>
            <a:off x="8321040" y="4315968"/>
            <a:ext cx="82296" cy="82296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44" name="Text 36"/>
          <p:cNvSpPr/>
          <p:nvPr/>
        </p:nvSpPr>
        <p:spPr>
          <a:xfrm>
            <a:off x="8522208" y="419709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9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9 — Industry &amp; Innovation: proving low-cost, open-source medical engineering.</a:t>
            </a:r>
            <a:endParaRPr lang="en-US" sz="950" dirty="0"/>
          </a:p>
        </p:txBody>
      </p:sp>
      <p:sp>
        <p:nvSpPr>
          <p:cNvPr id="45" name="Shape 37"/>
          <p:cNvSpPr/>
          <p:nvPr/>
        </p:nvSpPr>
        <p:spPr>
          <a:xfrm>
            <a:off x="8321040" y="4901184"/>
            <a:ext cx="82296" cy="82296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46" name="Text 38"/>
          <p:cNvSpPr/>
          <p:nvPr/>
        </p:nvSpPr>
        <p:spPr>
          <a:xfrm>
            <a:off x="8522208" y="478231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9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8 — Decent Work: helping rural clinics grow services without heavy capital debt.</a:t>
            </a:r>
            <a:endParaRPr lang="en-US" sz="950" dirty="0"/>
          </a:p>
        </p:txBody>
      </p:sp>
      <p:sp>
        <p:nvSpPr>
          <p:cNvPr id="47" name="Text 3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Product — Deployment &amp; Impact</a:t>
            </a:r>
            <a:endParaRPr lang="en-US" sz="1000" dirty="0"/>
          </a:p>
        </p:txBody>
      </p:sp>
      <p:sp>
        <p:nvSpPr>
          <p:cNvPr id="48" name="Text 40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CARDIOSNAP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914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0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3659488"/>
            <a:ext cx="4937760" cy="2193069"/>
          </a:xfrm>
          <a:prstGeom prst="roundRect">
            <a:avLst>
              <a:gd name="adj" fmla="val 27692"/>
            </a:avLst>
          </a:prstGeom>
          <a:solidFill>
            <a:srgbClr val="1020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774136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47,250,000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68853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patients in Pakistan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523717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addressable customer segment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113183" y="2130154"/>
            <a:ext cx="118872" cy="118872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938528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adults aged 30–60, plus seniors 60+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42395" y="2995007"/>
            <a:ext cx="118872" cy="118872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2944368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Health-conscious individuals and existing heart patients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89320" y="4114800"/>
            <a:ext cx="118872" cy="118872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3950208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and suburban households first, expanding nationwide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CardioSnap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5" name="Shape 3"/>
          <p:cNvSpPr/>
          <p:nvPr/>
        </p:nvSpPr>
        <p:spPr>
          <a:xfrm>
            <a:off x="610263" y="1323196"/>
            <a:ext cx="3660286" cy="1965960"/>
          </a:xfrm>
          <a:prstGeom prst="roundRect">
            <a:avLst>
              <a:gd name="adj" fmla="val 3721"/>
            </a:avLst>
          </a:prstGeom>
          <a:solidFill>
            <a:schemeClr val="tx2">
              <a:lumMod val="75000"/>
            </a:schemeClr>
          </a:solidFill>
          <a:ln w="12700">
            <a:solidFill>
              <a:srgbClr val="33406B"/>
            </a:solidFill>
            <a:prstDash val="solid"/>
          </a:ln>
        </p:spPr>
      </p:sp>
      <p:sp>
        <p:nvSpPr>
          <p:cNvPr id="16" name="Shape 4"/>
          <p:cNvSpPr/>
          <p:nvPr/>
        </p:nvSpPr>
        <p:spPr>
          <a:xfrm>
            <a:off x="884583" y="1540068"/>
            <a:ext cx="502920" cy="50292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17" name="Image 0" descr="/home/claude/cardiosnap/icon_he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313" y="1665798"/>
            <a:ext cx="251460" cy="251460"/>
          </a:xfrm>
          <a:prstGeom prst="rect">
            <a:avLst/>
          </a:prstGeom>
        </p:spPr>
      </p:pic>
      <p:sp>
        <p:nvSpPr>
          <p:cNvPr id="18" name="Text 5"/>
          <p:cNvSpPr/>
          <p:nvPr/>
        </p:nvSpPr>
        <p:spPr>
          <a:xfrm>
            <a:off x="884583" y="2061276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19.8M</a:t>
            </a:r>
            <a:endParaRPr lang="en-US" sz="2400" dirty="0"/>
          </a:p>
        </p:txBody>
      </p:sp>
      <p:sp>
        <p:nvSpPr>
          <p:cNvPr id="19" name="Text 6"/>
          <p:cNvSpPr/>
          <p:nvPr/>
        </p:nvSpPr>
        <p:spPr>
          <a:xfrm>
            <a:off x="884583" y="2564196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deaths linked to cardiovascular disease in 2022 — 32% of all deaths worldwide</a:t>
            </a:r>
            <a:endParaRPr lang="en-US" sz="1000" dirty="0"/>
          </a:p>
        </p:txBody>
      </p:sp>
      <p:sp>
        <p:nvSpPr>
          <p:cNvPr id="21" name="Shape 7"/>
          <p:cNvSpPr/>
          <p:nvPr/>
        </p:nvSpPr>
        <p:spPr>
          <a:xfrm>
            <a:off x="6001777" y="2001840"/>
            <a:ext cx="118872" cy="118872"/>
          </a:xfrm>
          <a:prstGeom prst="ellipse">
            <a:avLst/>
          </a:prstGeom>
          <a:solidFill>
            <a:srgbClr val="C1272D"/>
          </a:solidFill>
          <a:ln/>
        </p:spPr>
      </p:sp>
    </p:spTree>
    <p:extLst>
      <p:ext uri="{BB962C8B-B14F-4D97-AF65-F5344CB8AC3E}">
        <p14:creationId xmlns:p14="http://schemas.microsoft.com/office/powerpoint/2010/main" val="3759654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0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013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Price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5,000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069080" y="169164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4251960" y="18013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Price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51960" y="21031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10,000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498080" y="169164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102035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0" y="18013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/ Unit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80960" y="21031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5,000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" y="30632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sales of the CardioSnap device through pharmacies, hospitals, and online channels.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30632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Partners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342900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DRAP, pharmacies, hospitals, and doctors — for regulatory approval, distribution, and endorsement.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3434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470916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stores, social media, and doctor referrals.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43434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Relationship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9360" y="470916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networking, hospital and clinic partnerships, and pharmacy tie-ups.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CardioSnap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08895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Economics That Support the Mission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 validated bill of materials — full P&amp;L, margins, and 3-year projections to be finalised with actual production and pricing data.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Breakdown (per unit)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/ Nano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0" y="23774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2200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761488"/>
            <a:ext cx="4846320" cy="0"/>
          </a:xfrm>
          <a:prstGeom prst="line">
            <a:avLst/>
          </a:prstGeom>
          <a:noFill/>
          <a:ln w="9525">
            <a:solidFill>
              <a:srgbClr val="3340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880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AD8232 ECG Sensor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0" y="2880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1,800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264408"/>
            <a:ext cx="4846320" cy="0"/>
          </a:xfrm>
          <a:prstGeom prst="line">
            <a:avLst/>
          </a:prstGeom>
          <a:noFill/>
          <a:ln w="9525">
            <a:solidFill>
              <a:srgbClr val="3340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Electrodes &amp; Cables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0" y="3383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500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767328"/>
            <a:ext cx="4846320" cy="0"/>
          </a:xfrm>
          <a:prstGeom prst="line">
            <a:avLst/>
          </a:prstGeom>
          <a:noFill/>
          <a:ln w="9525">
            <a:solidFill>
              <a:srgbClr val="3340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886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Jumper Wires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0" y="3886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200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270248"/>
            <a:ext cx="4846320" cy="0"/>
          </a:xfrm>
          <a:prstGeom prst="line">
            <a:avLst/>
          </a:prstGeom>
          <a:noFill/>
          <a:ln w="9525">
            <a:solidFill>
              <a:srgbClr val="3340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4805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BOM Cost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31920" y="4480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PKR 5000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09360" y="1920240"/>
            <a:ext cx="5257800" cy="4434840"/>
          </a:xfrm>
          <a:prstGeom prst="roundRect">
            <a:avLst>
              <a:gd name="adj" fmla="val 2062"/>
            </a:avLst>
          </a:prstGeom>
          <a:solidFill>
            <a:srgbClr val="1C2A50"/>
          </a:solidFill>
          <a:ln w="12700">
            <a:solidFill>
              <a:srgbClr val="3340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21488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Illustrative Unit Margin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0" y="2606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PKR 10,000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583680" y="3108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retail price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89720" y="26060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EB8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PKR 5000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189720" y="3108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of materials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83680" y="3703320"/>
            <a:ext cx="4709160" cy="822960"/>
          </a:xfrm>
          <a:prstGeom prst="roundRect">
            <a:avLst>
              <a:gd name="adj" fmla="val 8889"/>
            </a:avLst>
          </a:prstGeom>
          <a:solidFill>
            <a:srgbClr val="D62828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3703320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PKR 5000 gross margin per unit before assembly, certification &amp; distribution costs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583680" y="475488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excludes assembly labour, enclosure/manufacturing tooling, regulatory certification, software maintenance, and distribution — add these once known to reach a true contribution margin.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Financials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CARDIOSNAP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Redefining the Diagnostic Landscape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CardioSnap isn't a cheaper version of a hospital ECG — it's a different category built for a market clinical machines were never designed to serve.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74320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1965960"/>
            <a:ext cx="388620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965960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Clinical ECG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269480" y="1965960"/>
            <a:ext cx="3886200" cy="658368"/>
          </a:xfrm>
          <a:prstGeom prst="rect">
            <a:avLst/>
          </a:prstGeom>
          <a:solidFill>
            <a:srgbClr val="1621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1965960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CardioSnap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624328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62432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Cost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2624328"/>
            <a:ext cx="3886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2624328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thousands of PKR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69480" y="2624328"/>
            <a:ext cx="3886200" cy="658368"/>
          </a:xfrm>
          <a:prstGeom prst="rect">
            <a:avLst/>
          </a:prstGeom>
          <a:solidFill>
            <a:srgbClr val="FDED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2624328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3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PKR 5,000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282696"/>
            <a:ext cx="2743200" cy="658368"/>
          </a:xfrm>
          <a:prstGeom prst="rect">
            <a:avLst/>
          </a:prstGeom>
          <a:solidFill>
            <a:srgbClr val="EEF1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282696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3282696"/>
            <a:ext cx="3886200" cy="658368"/>
          </a:xfrm>
          <a:prstGeom prst="rect">
            <a:avLst/>
          </a:prstGeom>
          <a:solidFill>
            <a:srgbClr val="EEF1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3282696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Heavy, cart-based, tethered to mains power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69480" y="3282696"/>
            <a:ext cx="3886200" cy="658368"/>
          </a:xfrm>
          <a:prstGeom prst="rect">
            <a:avLst/>
          </a:prstGeom>
          <a:solidFill>
            <a:srgbClr val="FDED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0" y="3282696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3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Pocket-sized, battery-operable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941064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941064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Environment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3280" y="3941064"/>
            <a:ext cx="3886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3941064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medical centres and urban hospitals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69480" y="3941064"/>
            <a:ext cx="3886200" cy="658368"/>
          </a:xfrm>
          <a:prstGeom prst="rect">
            <a:avLst/>
          </a:prstGeom>
          <a:solidFill>
            <a:srgbClr val="FDED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06640" y="3941064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3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villages, primary health centres, NGOs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599432"/>
            <a:ext cx="2743200" cy="658368"/>
          </a:xfrm>
          <a:prstGeom prst="rect">
            <a:avLst/>
          </a:prstGeom>
          <a:solidFill>
            <a:srgbClr val="EEF1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59943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Support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83280" y="4599432"/>
            <a:ext cx="3886200" cy="658368"/>
          </a:xfrm>
          <a:prstGeom prst="rect">
            <a:avLst/>
          </a:prstGeom>
          <a:solidFill>
            <a:srgbClr val="EEF1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0440" y="4599432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an on-site cardiologist for interpretation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269480" y="4599432"/>
            <a:ext cx="3886200" cy="658368"/>
          </a:xfrm>
          <a:prstGeom prst="rect">
            <a:avLst/>
          </a:prstGeom>
          <a:solidFill>
            <a:srgbClr val="FDED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06640" y="4599432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3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Artificial Neural Network AI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5257800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525780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Deployment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383280" y="5257800"/>
            <a:ext cx="3886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20440" y="5257800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Symptomatic patients seeking advanced care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269480" y="5257800"/>
            <a:ext cx="3886200" cy="658368"/>
          </a:xfrm>
          <a:prstGeom prst="rect">
            <a:avLst/>
          </a:prstGeom>
          <a:solidFill>
            <a:srgbClr val="FDED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06640" y="5257800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3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Proactive, broad-scale community screening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Competition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CARDIOSNAP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Team Driving the Mission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EEF1F6"/>
          </a:solidFill>
          <a:ln/>
        </p:spPr>
      </p:sp>
      <p:sp>
        <p:nvSpPr>
          <p:cNvPr id="5" name="Shape 3"/>
          <p:cNvSpPr/>
          <p:nvPr/>
        </p:nvSpPr>
        <p:spPr>
          <a:xfrm>
            <a:off x="1874520" y="2194560"/>
            <a:ext cx="914400" cy="914400"/>
          </a:xfrm>
          <a:prstGeom prst="ellipse">
            <a:avLst/>
          </a:prstGeom>
          <a:solidFill>
            <a:schemeClr val="bg1">
              <a:lumMod val="85000"/>
            </a:schemeClr>
          </a:solidFill>
          <a:ln/>
        </p:spPr>
      </p:sp>
      <p:pic>
        <p:nvPicPr>
          <p:cNvPr id="6" name="Image 0" descr="/home/claude/cardiosnap/icon_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3774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91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Faiza Iftikhar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7033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Innovator, CardioSnap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06240" y="192024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EEF1F6"/>
          </a:solidFill>
          <a:ln/>
        </p:spPr>
      </p:sp>
      <p:sp>
        <p:nvSpPr>
          <p:cNvPr id="10" name="Shape 7"/>
          <p:cNvSpPr/>
          <p:nvPr/>
        </p:nvSpPr>
        <p:spPr>
          <a:xfrm>
            <a:off x="5440680" y="2194560"/>
            <a:ext cx="914400" cy="914400"/>
          </a:xfrm>
          <a:prstGeom prst="ellipse">
            <a:avLst/>
          </a:prstGeom>
          <a:solidFill>
            <a:schemeClr val="bg1">
              <a:lumMod val="65000"/>
            </a:schemeClr>
          </a:solidFill>
          <a:ln/>
        </p:spPr>
      </p:sp>
      <p:pic>
        <p:nvPicPr>
          <p:cNvPr id="11" name="Image 1" descr="/home/claude/cardiosnap/icon_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37744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89120" y="3291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</a:rPr>
              <a:t>Amber hafeez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389120" y="37033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Innovator, CardioSnap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828060" y="192024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EEF1F6"/>
          </a:solidFill>
          <a:ln/>
        </p:spPr>
      </p:sp>
      <p:sp>
        <p:nvSpPr>
          <p:cNvPr id="15" name="Shape 11"/>
          <p:cNvSpPr/>
          <p:nvPr/>
        </p:nvSpPr>
        <p:spPr>
          <a:xfrm>
            <a:off x="9006840" y="2194560"/>
            <a:ext cx="914400" cy="914400"/>
          </a:xfrm>
          <a:prstGeom prst="ellipse">
            <a:avLst/>
          </a:prstGeom>
          <a:solidFill>
            <a:schemeClr val="bg1">
              <a:lumMod val="85000"/>
            </a:schemeClr>
          </a:solidFill>
          <a:ln/>
        </p:spPr>
      </p:sp>
      <p:pic>
        <p:nvPicPr>
          <p:cNvPr id="16" name="Image 2" descr="/home/claude/cardiosnap/icon_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237744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55280" y="3291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16213E"/>
                </a:solidFill>
                <a:latin typeface="Cambria" pitchFamily="34" charset="0"/>
                <a:ea typeface="Cambria" pitchFamily="34" charset="-122"/>
              </a:rPr>
              <a:t>Zarmina</a:t>
            </a:r>
            <a:r>
              <a:rPr lang="en-US" sz="15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</a:rPr>
              <a:t> Zafar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7955280" y="37033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Innovator, CardioSnap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640080" y="4892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 Backing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640080" y="5257800"/>
            <a:ext cx="5120640" cy="777240"/>
          </a:xfrm>
          <a:prstGeom prst="roundRect">
            <a:avLst>
              <a:gd name="adj" fmla="val 8235"/>
            </a:avLst>
          </a:prstGeom>
          <a:solidFill>
            <a:srgbClr val="16213E"/>
          </a:solidFill>
          <a:ln/>
        </p:spPr>
      </p:sp>
      <p:sp>
        <p:nvSpPr>
          <p:cNvPr id="21" name="Text 16"/>
          <p:cNvSpPr/>
          <p:nvPr/>
        </p:nvSpPr>
        <p:spPr>
          <a:xfrm>
            <a:off x="868680" y="5349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Incubated by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868680" y="56052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Khadija tul Kubra Business Incubation Center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172200" y="56052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Engineering University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Team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CARDIOSNAP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&amp; USE OF FUNDS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Us in Scaling Accessible Cardiac Care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ask and allocation — insert your actual funding round size and use-of-funds split before sharing with investors.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4023360" cy="4480560"/>
          </a:xfrm>
          <a:prstGeom prst="roundRect">
            <a:avLst>
              <a:gd name="adj" fmla="val 2273"/>
            </a:avLst>
          </a:prstGeom>
          <a:solidFill>
            <a:srgbClr val="D6282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E1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PKR 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E1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/ Pre-Seed round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794760"/>
            <a:ext cx="347472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977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asking investors for: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434340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E1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to move from validated prototype to certified, manufacturable product — plus strategic introductions to health-sector distribution partners.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87452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of Funds (illustrative split)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937760" y="2331720"/>
            <a:ext cx="3017520" cy="1508760"/>
          </a:xfrm>
          <a:prstGeom prst="roundRect">
            <a:avLst>
              <a:gd name="adj" fmla="val 4848"/>
            </a:avLst>
          </a:prstGeom>
          <a:solidFill>
            <a:srgbClr val="1C2A50"/>
          </a:solidFill>
          <a:ln w="12700">
            <a:solidFill>
              <a:srgbClr val="3340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0640" y="2514600"/>
            <a:ext cx="411480" cy="41148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15" name="Image 0" descr="/home/claude/cardiosnap/icon_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3510" y="2617470"/>
            <a:ext cx="205740" cy="2057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949440" y="249631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120640" y="304495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&amp; R&amp;D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120640" y="3337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refinement, enclosure design, ANN model improvement.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092440" y="2331720"/>
            <a:ext cx="3017520" cy="1508760"/>
          </a:xfrm>
          <a:prstGeom prst="roundRect">
            <a:avLst>
              <a:gd name="adj" fmla="val 4848"/>
            </a:avLst>
          </a:prstGeom>
          <a:solidFill>
            <a:srgbClr val="1C2A50"/>
          </a:solidFill>
          <a:ln w="12700">
            <a:solidFill>
              <a:srgbClr val="33406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75320" y="2514600"/>
            <a:ext cx="411480" cy="41148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21" name="Image 1" descr="/home/claude/cardiosnap/icon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8190" y="2617470"/>
            <a:ext cx="205740" cy="20574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0104120" y="249631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1700" dirty="0"/>
          </a:p>
        </p:txBody>
      </p:sp>
      <p:sp>
        <p:nvSpPr>
          <p:cNvPr id="23" name="Text 19"/>
          <p:cNvSpPr/>
          <p:nvPr/>
        </p:nvSpPr>
        <p:spPr>
          <a:xfrm>
            <a:off x="8275320" y="304495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&amp; Certification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8275320" y="3337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device safety and compliance pathway.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4937760" y="4023360"/>
            <a:ext cx="3017520" cy="1508760"/>
          </a:xfrm>
          <a:prstGeom prst="roundRect">
            <a:avLst>
              <a:gd name="adj" fmla="val 4848"/>
            </a:avLst>
          </a:prstGeom>
          <a:solidFill>
            <a:srgbClr val="1C2A50"/>
          </a:solidFill>
          <a:ln w="12700">
            <a:solidFill>
              <a:srgbClr val="33406B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120640" y="4206240"/>
            <a:ext cx="411480" cy="41148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27" name="Image 2" descr="/home/claude/cardiosnap/icon_briefc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3510" y="4309110"/>
            <a:ext cx="205740" cy="20574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949440" y="418795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1700" dirty="0"/>
          </a:p>
        </p:txBody>
      </p:sp>
      <p:sp>
        <p:nvSpPr>
          <p:cNvPr id="29" name="Text 24"/>
          <p:cNvSpPr/>
          <p:nvPr/>
        </p:nvSpPr>
        <p:spPr>
          <a:xfrm>
            <a:off x="5120640" y="47365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 Scale-Up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5120640" y="5029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and first production batches.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8092440" y="4023360"/>
            <a:ext cx="3017520" cy="1508760"/>
          </a:xfrm>
          <a:prstGeom prst="roundRect">
            <a:avLst>
              <a:gd name="adj" fmla="val 4848"/>
            </a:avLst>
          </a:prstGeom>
          <a:solidFill>
            <a:srgbClr val="1C2A50"/>
          </a:solidFill>
          <a:ln w="12700">
            <a:solidFill>
              <a:srgbClr val="33406B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8275320" y="4206240"/>
            <a:ext cx="411480" cy="41148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33" name="Image 3" descr="/home/claude/cardiosnap/icon_fla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8190" y="4309110"/>
            <a:ext cx="205740" cy="20574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0104120" y="418795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1700" dirty="0"/>
          </a:p>
        </p:txBody>
      </p:sp>
      <p:sp>
        <p:nvSpPr>
          <p:cNvPr id="35" name="Text 29"/>
          <p:cNvSpPr/>
          <p:nvPr/>
        </p:nvSpPr>
        <p:spPr>
          <a:xfrm>
            <a:off x="8275320" y="47365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Entry &amp; Distribution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8275320" y="5029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deployments, NGO and clinic partnerships.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Investment &amp; Use of Funds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CARDIOSNAP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822960"/>
            <a:ext cx="2743200" cy="1691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48231" y="32461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Give everyone the power to check their own heart </a:t>
            </a:r>
            <a:r>
              <a:rPr lang="en-US" sz="22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ower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check their own heart.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965960" y="3886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 in making early heart care affordable, portable, and accessible to every household in Pakistan.</a:t>
            </a:r>
            <a:endParaRPr lang="en-US" sz="1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508760" y="5120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48550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</TotalTime>
  <Words>1129</Words>
  <Application>Microsoft Office PowerPoint</Application>
  <PresentationFormat>Widescreen</PresentationFormat>
  <Paragraphs>212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amber hafeez</cp:lastModifiedBy>
  <cp:revision>8</cp:revision>
  <cp:lastPrinted>2026-07-20T16:04:53Z</cp:lastPrinted>
  <dcterms:created xsi:type="dcterms:W3CDTF">2026-07-20T08:01:35Z</dcterms:created>
  <dcterms:modified xsi:type="dcterms:W3CDTF">2026-07-20T16:11:12Z</dcterms:modified>
</cp:coreProperties>
</file>